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E2E8F0"/>
                </a:solidFill>
                <a:latin typeface="Arial"/>
              </a:rPr>
              <a:t>Market Opportunity ($B)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 ($B)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6B6D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HealthTech AI</c:v>
                  </c:pt>
                  <c:pt idx="1">
                    <c:v>FinTech AI</c:v>
                  </c:pt>
                  <c:pt idx="2">
                    <c:v>InsurTech AI</c:v>
                  </c:pt>
                  <c:pt idx="3">
                    <c:v>Fraud Detection</c:v>
                  </c:pt>
                  <c:pt idx="4">
                    <c:v>PLUTUS TAM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45.2</c:v>
                </c:pt>
                <c:pt idx="1">
                  <c:v>38.7</c:v>
                </c:pt>
                <c:pt idx="2">
                  <c:v>22.4</c:v>
                </c:pt>
                <c:pt idx="3">
                  <c:v>31.5</c:v>
                </c:pt>
                <c:pt idx="4">
                  <c:v>137.8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A0E2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E2E8F0"/>
                </a:solidFill>
                <a:latin typeface="Arial"/>
              </a:rPr>
              <a:t>Root Causes of Financial Crisis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Crisis Triggers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bubble3D val="0"/>
            <c:spPr>
              <a:solidFill>
                <a:srgbClr val="7C3AED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bubble3D val="0"/>
            <c:spPr>
              <a:solidFill>
                <a:srgbClr val="06B6D4"/>
              </a:solidFill>
              <a:effectLst/>
            </c:spPr>
          </c:dPt>
          <c:dPt>
            <c:idx val="4"/>
            <c:bubble3D val="0"/>
            <c:spPr>
              <a:solidFill>
                <a:srgbClr val="94A3B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Medical Debt</c:v>
                </c:pt>
                <c:pt idx="1">
                  <c:v>Insurance Gaps</c:v>
                </c:pt>
                <c:pt idx="2">
                  <c:v>Income Shock</c:v>
                </c:pt>
                <c:pt idx="3">
                  <c:v>Fraud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38</c:v>
                </c:pt>
                <c:pt idx="1">
                  <c:v>22</c:v>
                </c:pt>
                <c:pt idx="2">
                  <c:v>19</c:v>
                </c:pt>
                <c:pt idx="3">
                  <c:v>13</c:v>
                </c:pt>
                <c:pt idx="4">
                  <c:v>8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</c:chart>
  <c:spPr>
    <a:solidFill>
      <a:srgbClr val="0A0E2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23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A23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A23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23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23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23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23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23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A23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23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1A23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1A23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1A23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1A23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A23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6350">
            <a:solidFill>
              <a:srgbClr val="1A23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-1645920"/>
            <a:ext cx="4114800" cy="4114800"/>
          </a:xfrm>
          <a:prstGeom prst="ellipse">
            <a:avLst/>
          </a:prstGeom>
          <a:solidFill>
            <a:srgbClr val="06B6D4">
              <a:alpha val="12000"/>
            </a:srgbClr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0" y="-1097280"/>
            <a:ext cx="2743200" cy="2743200"/>
          </a:xfrm>
          <a:prstGeom prst="ellipse">
            <a:avLst/>
          </a:prstGeom>
          <a:solidFill>
            <a:srgbClr val="06B6D4">
              <a:alpha val="6000"/>
            </a:srgbClr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-1371600" y="2926080"/>
            <a:ext cx="3657600" cy="36576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10058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1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PLUTUS</a:t>
            </a:r>
            <a:endParaRPr lang="en-US" sz="7200" dirty="0"/>
          </a:p>
        </p:txBody>
      </p:sp>
      <p:sp>
        <p:nvSpPr>
          <p:cNvPr id="25" name="Shape 23"/>
          <p:cNvSpPr/>
          <p:nvPr/>
        </p:nvSpPr>
        <p:spPr>
          <a:xfrm>
            <a:off x="502920" y="2121408"/>
            <a:ext cx="347472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22402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Predict. Protect. Prosper.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02920" y="27889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Financial &amp; Health Crisis Prevention Network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02920" y="3520440"/>
            <a:ext cx="438912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61188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Plutus  |  Track: AI × FinTech × Healthcare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Nehal Sharma  ·  B.Tech First Year  ·  PES University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vrnehal@gmail.com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784848" y="841248"/>
            <a:ext cx="640080" cy="640080"/>
          </a:xfrm>
          <a:prstGeom prst="ellipse">
            <a:avLst/>
          </a:prstGeom>
          <a:solidFill>
            <a:srgbClr val="3B0A0A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914400"/>
            <a:ext cx="502920" cy="50292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6583680" y="148132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AI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699248" y="1938528"/>
            <a:ext cx="640080" cy="640080"/>
          </a:xfrm>
          <a:prstGeom prst="ellipse">
            <a:avLst/>
          </a:prstGeom>
          <a:solidFill>
            <a:srgbClr val="3B2A00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011680"/>
            <a:ext cx="502920" cy="50292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7498080" y="25786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</a:t>
            </a:r>
            <a:endParaRPr lang="en-US" sz="800" dirty="0"/>
          </a:p>
        </p:txBody>
      </p:sp>
      <p:sp>
        <p:nvSpPr>
          <p:cNvPr id="36" name="Shape 32"/>
          <p:cNvSpPr/>
          <p:nvPr/>
        </p:nvSpPr>
        <p:spPr>
          <a:xfrm>
            <a:off x="6601968" y="2944368"/>
            <a:ext cx="640080" cy="640080"/>
          </a:xfrm>
          <a:prstGeom prst="ellipse">
            <a:avLst/>
          </a:prstGeom>
          <a:solidFill>
            <a:srgbClr val="033040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3017520"/>
            <a:ext cx="502920" cy="502920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6400800" y="35844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</a:t>
            </a:r>
            <a:endParaRPr lang="en-US" sz="800" dirty="0"/>
          </a:p>
        </p:txBody>
      </p:sp>
      <p:sp>
        <p:nvSpPr>
          <p:cNvPr id="39" name="Shape 34"/>
          <p:cNvSpPr/>
          <p:nvPr/>
        </p:nvSpPr>
        <p:spPr>
          <a:xfrm>
            <a:off x="6858000" y="4206240"/>
            <a:ext cx="201168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6858000" y="42062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🏆 HACKATHON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Hidden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Crisis No One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Sees Coming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3154680"/>
            <a:ext cx="3474720" cy="1600200"/>
          </a:xfrm>
          <a:prstGeom prst="rect">
            <a:avLst/>
          </a:prstGeom>
          <a:solidFill>
            <a:srgbClr val="0D1535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32461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137M+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274320" y="39319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Americans face medical debt that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financial crisis annually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43400" y="274320"/>
            <a:ext cx="2286000" cy="2011680"/>
          </a:xfrm>
          <a:prstGeom prst="rect">
            <a:avLst/>
          </a:prstGeom>
          <a:solidFill>
            <a:srgbClr val="111827"/>
          </a:solidFill>
          <a:ln w="1524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45720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480560" y="9326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Risk Assessment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480560" y="14173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finance data exists in silos — no system connects them.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720840" y="274320"/>
            <a:ext cx="2286000" cy="2011680"/>
          </a:xfrm>
          <a:prstGeom prst="rect">
            <a:avLst/>
          </a:prstGeom>
          <a:solidFill>
            <a:srgbClr val="111827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45720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58000" y="9326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Reactive, Not Proactive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6858000" y="14173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Warnings arrive only after significant damage has already occurred.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343400" y="2606040"/>
            <a:ext cx="2286000" cy="2011680"/>
          </a:xfrm>
          <a:prstGeom prst="rect">
            <a:avLst/>
          </a:prstGeom>
          <a:solidFill>
            <a:srgbClr val="111827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278892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480560" y="326440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Blindspots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4480560" y="3749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 don't know their coverage gaps until claims are denied.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6720840" y="2606040"/>
            <a:ext cx="2286000" cy="2011680"/>
          </a:xfrm>
          <a:prstGeom prst="rect">
            <a:avLst/>
          </a:prstGeom>
          <a:solidFill>
            <a:srgbClr val="11182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278892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58000" y="326440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Goes Undetected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6858000" y="3749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Anomalous transactions go unnoticed until accounts are drained.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434340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Creates a domino effect — one crisis triggers another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228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Introducing PLUTUS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multi-agent AI ecosystem that predicts and prevents personal crises before they occur.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783080"/>
            <a:ext cx="2011680" cy="2560320"/>
          </a:xfrm>
          <a:prstGeom prst="rect">
            <a:avLst/>
          </a:prstGeom>
          <a:solidFill>
            <a:srgbClr val="1E293B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8105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219456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Medical Reports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Insurance Details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Financial Statements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Transaction History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40280" y="3063240"/>
            <a:ext cx="731520" cy="0"/>
          </a:xfrm>
          <a:prstGeom prst="line">
            <a:avLst/>
          </a:prstGeom>
          <a:noFill/>
          <a:ln w="3175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0360" y="2944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B6D4"/>
                </a:solidFill>
              </a:rPr>
              <a:t>▶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108960" y="1691640"/>
            <a:ext cx="2926080" cy="2743200"/>
          </a:xfrm>
          <a:prstGeom prst="rect">
            <a:avLst/>
          </a:prstGeom>
          <a:solidFill>
            <a:srgbClr val="030B1F"/>
          </a:solidFill>
          <a:ln w="25400">
            <a:solidFill>
              <a:srgbClr val="06B6D4"/>
            </a:solidFill>
            <a:prstDash val="solid"/>
          </a:ln>
          <a:effectLst>
            <a:outerShdw sx="100000" sy="100000" kx="0" ky="0" algn="bl" rotWithShape="0" blurRad="254000" dist="38100" dir="8100000">
              <a:srgbClr val="06B6D4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108960" y="171907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PLUTUS ENGINE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46120" y="2176272"/>
            <a:ext cx="2651760" cy="384048"/>
          </a:xfrm>
          <a:prstGeom prst="rect">
            <a:avLst/>
          </a:prstGeom>
          <a:solidFill>
            <a:srgbClr val="1A1F4E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217627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Agent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2670048"/>
            <a:ext cx="2651760" cy="384048"/>
          </a:xfrm>
          <a:prstGeom prst="rect">
            <a:avLst/>
          </a:prstGeom>
          <a:solidFill>
            <a:srgbClr val="1A1F4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267004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Agent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46120" y="3163824"/>
            <a:ext cx="2651760" cy="384048"/>
          </a:xfrm>
          <a:prstGeom prst="rect">
            <a:avLst/>
          </a:prstGeom>
          <a:solidFill>
            <a:srgbClr val="1A1F4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316382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Agent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3657600"/>
            <a:ext cx="2651760" cy="384048"/>
          </a:xfrm>
          <a:prstGeom prst="rect">
            <a:avLst/>
          </a:prstGeom>
          <a:solidFill>
            <a:srgbClr val="1A1F4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36576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Agent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35040" y="3063240"/>
            <a:ext cx="685800" cy="0"/>
          </a:xfrm>
          <a:prstGeom prst="line">
            <a:avLst/>
          </a:prstGeom>
          <a:noFill/>
          <a:ln w="3175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2944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B6D4"/>
                </a:solidFill>
              </a:rPr>
              <a:t>▶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58000" y="1691640"/>
            <a:ext cx="2057400" cy="2743200"/>
          </a:xfrm>
          <a:prstGeom prst="rect">
            <a:avLst/>
          </a:prstGeom>
          <a:solidFill>
            <a:srgbClr val="1E293B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17373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949440" y="2176272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Health Risk Score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Financial Risk Index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Insurance Gaps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Fraud Alerts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Prevention Plan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475488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reactive recovery → proactive prevention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6868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NOVELTY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Makes PLUTUS Different?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92608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34440"/>
            <a:ext cx="2926080" cy="43891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3444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TRADITIONAL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828800"/>
            <a:ext cx="2651760" cy="731520"/>
          </a:xfrm>
          <a:prstGeom prst="rect">
            <a:avLst/>
          </a:prstGeom>
          <a:solidFill>
            <a:srgbClr val="1E293B"/>
          </a:solidFill>
          <a:ln w="7620">
            <a:solidFill>
              <a:srgbClr val="3741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74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App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15798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reports stay in healthcare silo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11480" y="2743200"/>
            <a:ext cx="2651760" cy="731520"/>
          </a:xfrm>
          <a:prstGeom prst="rect">
            <a:avLst/>
          </a:prstGeom>
          <a:solidFill>
            <a:srgbClr val="1E293B"/>
          </a:solidFill>
          <a:ln w="7620">
            <a:solidFill>
              <a:srgbClr val="3741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788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App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07238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data never leaves fintech bubble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11480" y="3657600"/>
            <a:ext cx="2651760" cy="731520"/>
          </a:xfrm>
          <a:prstGeom prst="rect">
            <a:avLst/>
          </a:prstGeom>
          <a:solidFill>
            <a:srgbClr val="1E293B"/>
          </a:solidFill>
          <a:ln w="7620">
            <a:solidFill>
              <a:srgbClr val="3741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703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Portal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398678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analysis done in isolation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74320" y="4709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cross-domain intelligence. No prevention.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364992" y="2834640"/>
            <a:ext cx="594360" cy="594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64992" y="2834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0" y="1234440"/>
            <a:ext cx="4754880" cy="3566160"/>
          </a:xfrm>
          <a:prstGeom prst="rect">
            <a:avLst/>
          </a:prstGeom>
          <a:solidFill>
            <a:srgbClr val="030B1F"/>
          </a:solidFill>
          <a:ln w="22860">
            <a:solidFill>
              <a:srgbClr val="06B6D4"/>
            </a:solidFill>
            <a:prstDash val="solid"/>
          </a:ln>
          <a:effectLst>
            <a:outerShdw sx="100000" sy="100000" kx="0" ky="0" algn="bl" rotWithShape="0" blurRad="190500" dist="38100" dir="8100000">
              <a:srgbClr val="06B6D4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0" y="1234440"/>
            <a:ext cx="475488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0" y="123444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PLUTUS APPROACH</a:t>
            </a:r>
            <a:endParaRPr lang="en-US" sz="12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1783080"/>
            <a:ext cx="347472" cy="34747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663440" y="1783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 Architecture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663440" y="2057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specialized agents work in concert, sharing insights in real time.</a:t>
            </a:r>
            <a:endParaRPr lang="en-US" sz="9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2560320"/>
            <a:ext cx="347472" cy="34747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4663440" y="2560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Risk Correlation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4663440" y="2834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anomalies trigger financial reviews automatically.</a:t>
            </a:r>
            <a:endParaRPr lang="en-US" sz="90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3337560"/>
            <a:ext cx="347472" cy="34747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4663440" y="3337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Crisis Modeling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4663440" y="3611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risk forecasts using XGBoost + time-series analysis.</a:t>
            </a:r>
            <a:endParaRPr lang="en-US" sz="9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4114800"/>
            <a:ext cx="347472" cy="34747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4663440" y="4114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Fraud + Gap Analysis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4663440" y="4389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transaction monitoring fused with insurance coverage checks.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0"/>
            <a:ext cx="3749040" cy="5143500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for Scale,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Speed &amp; Security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4320" y="1783080"/>
            <a:ext cx="2423160" cy="896112"/>
          </a:xfrm>
          <a:prstGeom prst="rect">
            <a:avLst/>
          </a:prstGeom>
          <a:solidFill>
            <a:srgbClr val="111827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96596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04672" y="21671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· React · Tailwind CSS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834640" y="1783080"/>
            <a:ext cx="2423160" cy="896112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368" y="196596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64992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3364992" y="21671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Python · REST APIs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274320" y="2834640"/>
            <a:ext cx="2423160" cy="896112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017520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04672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804672" y="32186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 · LangGraph · GPT-4o · Llama 3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2834640" y="2834640"/>
            <a:ext cx="2423160" cy="896112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4368" y="3017520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364992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3364992" y="32186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· Scikit-Learn · LSTM</a:t>
            </a:r>
            <a:endParaRPr lang="en-US" sz="850" dirty="0"/>
          </a:p>
        </p:txBody>
      </p:sp>
      <p:sp>
        <p:nvSpPr>
          <p:cNvPr id="22" name="Shape 16"/>
          <p:cNvSpPr/>
          <p:nvPr/>
        </p:nvSpPr>
        <p:spPr>
          <a:xfrm>
            <a:off x="274320" y="3886200"/>
            <a:ext cx="2423160" cy="896112"/>
          </a:xfrm>
          <a:prstGeom prst="rect">
            <a:avLst/>
          </a:prstGeom>
          <a:solidFill>
            <a:srgbClr val="111827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4069080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04672" y="3977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804672" y="42702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Qdrant Vector DB</a:t>
            </a:r>
            <a:endParaRPr lang="en-US" sz="850" dirty="0"/>
          </a:p>
        </p:txBody>
      </p:sp>
      <p:sp>
        <p:nvSpPr>
          <p:cNvPr id="26" name="Shape 19"/>
          <p:cNvSpPr/>
          <p:nvPr/>
        </p:nvSpPr>
        <p:spPr>
          <a:xfrm>
            <a:off x="2834640" y="3886200"/>
            <a:ext cx="2423160" cy="896112"/>
          </a:xfrm>
          <a:prstGeom prst="rect">
            <a:avLst/>
          </a:prstGeom>
          <a:solidFill>
            <a:srgbClr val="111827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4368" y="4069080"/>
            <a:ext cx="347472" cy="34747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364992" y="3977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3364992" y="42702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· AES-256 · Polygon Blockchain</a:t>
            </a:r>
            <a:endParaRPr lang="en-US" sz="850" dirty="0"/>
          </a:p>
        </p:txBody>
      </p:sp>
      <p:sp>
        <p:nvSpPr>
          <p:cNvPr id="30" name="Text 22"/>
          <p:cNvSpPr/>
          <p:nvPr/>
        </p:nvSpPr>
        <p:spPr>
          <a:xfrm>
            <a:off x="5486400" y="274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5623560" y="685800"/>
            <a:ext cx="3200400" cy="475488"/>
          </a:xfrm>
          <a:prstGeom prst="rect">
            <a:avLst/>
          </a:prstGeom>
          <a:solidFill>
            <a:srgbClr val="111827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5623560" y="68580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6995160" y="11430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5623560" y="1389888"/>
            <a:ext cx="3200400" cy="475488"/>
          </a:xfrm>
          <a:prstGeom prst="rect">
            <a:avLst/>
          </a:prstGeom>
          <a:solidFill>
            <a:srgbClr val="111827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5623560" y="138988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050" dirty="0"/>
          </a:p>
        </p:txBody>
      </p:sp>
      <p:sp>
        <p:nvSpPr>
          <p:cNvPr id="36" name="Text 28"/>
          <p:cNvSpPr/>
          <p:nvPr/>
        </p:nvSpPr>
        <p:spPr>
          <a:xfrm>
            <a:off x="6995160" y="1847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37" name="Shape 29"/>
          <p:cNvSpPr/>
          <p:nvPr/>
        </p:nvSpPr>
        <p:spPr>
          <a:xfrm>
            <a:off x="5623560" y="2093976"/>
            <a:ext cx="3200400" cy="475488"/>
          </a:xfrm>
          <a:prstGeom prst="rect">
            <a:avLst/>
          </a:prstGeom>
          <a:solidFill>
            <a:srgbClr val="111827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5623560" y="2093976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Cluster</a:t>
            </a:r>
            <a:endParaRPr lang="en-US" sz="1050" dirty="0"/>
          </a:p>
        </p:txBody>
      </p:sp>
      <p:sp>
        <p:nvSpPr>
          <p:cNvPr id="39" name="Text 31"/>
          <p:cNvSpPr/>
          <p:nvPr/>
        </p:nvSpPr>
        <p:spPr>
          <a:xfrm>
            <a:off x="6995160" y="25511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40" name="Shape 32"/>
          <p:cNvSpPr/>
          <p:nvPr/>
        </p:nvSpPr>
        <p:spPr>
          <a:xfrm>
            <a:off x="5623560" y="2798064"/>
            <a:ext cx="3200400" cy="475488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5623560" y="2798064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Engine</a:t>
            </a:r>
            <a:endParaRPr lang="en-US" sz="1050" dirty="0"/>
          </a:p>
        </p:txBody>
      </p:sp>
      <p:sp>
        <p:nvSpPr>
          <p:cNvPr id="42" name="Text 34"/>
          <p:cNvSpPr/>
          <p:nvPr/>
        </p:nvSpPr>
        <p:spPr>
          <a:xfrm>
            <a:off x="6995160" y="32552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43" name="Shape 35"/>
          <p:cNvSpPr/>
          <p:nvPr/>
        </p:nvSpPr>
        <p:spPr>
          <a:xfrm>
            <a:off x="5623560" y="3502152"/>
            <a:ext cx="3200400" cy="475488"/>
          </a:xfrm>
          <a:prstGeom prst="rect">
            <a:avLst/>
          </a:prstGeom>
          <a:solidFill>
            <a:srgbClr val="111827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5623560" y="350215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Vector Store</a:t>
            </a:r>
            <a:endParaRPr lang="en-US" sz="1050" dirty="0"/>
          </a:p>
        </p:txBody>
      </p:sp>
      <p:sp>
        <p:nvSpPr>
          <p:cNvPr id="45" name="Text 37"/>
          <p:cNvSpPr/>
          <p:nvPr/>
        </p:nvSpPr>
        <p:spPr>
          <a:xfrm>
            <a:off x="6995160" y="39593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46" name="Shape 38"/>
          <p:cNvSpPr/>
          <p:nvPr/>
        </p:nvSpPr>
        <p:spPr>
          <a:xfrm>
            <a:off x="5623560" y="4206240"/>
            <a:ext cx="3200400" cy="475488"/>
          </a:xfrm>
          <a:prstGeom prst="rect">
            <a:avLst/>
          </a:prstGeom>
          <a:solidFill>
            <a:srgbClr val="111827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7" name="Text 39"/>
          <p:cNvSpPr/>
          <p:nvPr/>
        </p:nvSpPr>
        <p:spPr>
          <a:xfrm>
            <a:off x="5623560" y="420624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Audit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6868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PLAN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4-Phase Execution Roadmap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423160"/>
            <a:ext cx="749808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19456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2788920"/>
            <a:ext cx="2103120" cy="1965960"/>
          </a:xfrm>
          <a:prstGeom prst="rect">
            <a:avLst/>
          </a:prstGeom>
          <a:solidFill>
            <a:srgbClr val="111827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8346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30906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493008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Secure user onboarding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Document upload portal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Data preprocessing pipeline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1234440"/>
            <a:ext cx="1463040" cy="749808"/>
          </a:xfrm>
          <a:prstGeom prst="rect">
            <a:avLst/>
          </a:prstGeom>
          <a:solidFill>
            <a:srgbClr val="1E293B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2618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⏱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12618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0–6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2960" y="15819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window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154680" y="219456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5468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23160" y="2788920"/>
            <a:ext cx="2103120" cy="1965960"/>
          </a:xfrm>
          <a:prstGeom prst="rect">
            <a:avLst/>
          </a:prstGeom>
          <a:solidFill>
            <a:srgbClr val="111827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28346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60320" y="30906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Deployment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60320" y="3493008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Health Agent (blood/records)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Finance Agent (spending/income)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Insurance + Fraud Agents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651760" y="1234440"/>
            <a:ext cx="1463040" cy="749808"/>
          </a:xfrm>
          <a:prstGeom prst="rect">
            <a:avLst/>
          </a:prstGeom>
          <a:solidFill>
            <a:srgbClr val="1E293B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51760" y="12618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⏱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971800" y="12618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6–18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971800" y="15819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window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303520" y="219456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2788920"/>
            <a:ext cx="2103120" cy="1965960"/>
          </a:xfrm>
          <a:prstGeom prst="rect">
            <a:avLst/>
          </a:prstGeom>
          <a:solidFill>
            <a:srgbClr val="111827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28346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09160" y="30906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Engine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09160" y="3493008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Aggregate all agent outputs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Calculate Crisis Index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Cross-domain correlation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00600" y="1234440"/>
            <a:ext cx="1463040" cy="749808"/>
          </a:xfrm>
          <a:prstGeom prst="rect">
            <a:avLst/>
          </a:prstGeom>
          <a:solidFill>
            <a:srgbClr val="1E293B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12618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⏱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20640" y="12618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18–36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120640" y="15819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window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452360" y="219456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5236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720840" y="2788920"/>
            <a:ext cx="2103120" cy="1965960"/>
          </a:xfrm>
          <a:prstGeom prst="rect">
            <a:avLst/>
          </a:prstGeom>
          <a:solidFill>
            <a:srgbClr val="111827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0" y="28346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858000" y="30906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Dashboard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858000" y="3493008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Personalized action plans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Real-time alerts system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90-day future projections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949440" y="1234440"/>
            <a:ext cx="1463040" cy="749808"/>
          </a:xfrm>
          <a:prstGeom prst="rect">
            <a:avLst/>
          </a:prstGeom>
          <a:solidFill>
            <a:srgbClr val="1E293B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49440" y="12618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⏱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269480" y="12618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36–48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269480" y="15819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window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822960" y="1600200"/>
            <a:ext cx="74980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dash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6868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FEASIBILITY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Numbers That Matter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651760" cy="1051560"/>
          </a:xfrm>
          <a:prstGeom prst="rect">
            <a:avLst/>
          </a:prstGeom>
          <a:solidFill>
            <a:srgbClr val="111827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887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$3.8T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74320" y="1673352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healthcare spending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74320" y="19202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preventable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651760" cy="10515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1887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00400" y="1673352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bankruptcies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00400" y="19202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medical bills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26480" y="1143000"/>
            <a:ext cx="2651760" cy="1051560"/>
          </a:xfrm>
          <a:prstGeom prst="rect">
            <a:avLst/>
          </a:prstGeom>
          <a:solidFill>
            <a:srgbClr val="111827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1887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10×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126480" y="1673352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on preventive care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126480" y="19202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emergency response</a:t>
            </a:r>
            <a:endParaRPr lang="en-US" sz="85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274320" y="2331720"/>
          <a:ext cx="502920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8" name="Chart 1" descr=""/>
          <p:cNvGraphicFramePr/>
          <p:nvPr/>
        </p:nvGraphicFramePr>
        <p:xfrm>
          <a:off x="5440680" y="2331720"/>
          <a:ext cx="338328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" y="182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3891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PLUTUS Roadmap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2487168"/>
            <a:ext cx="859536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258568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1005840"/>
            <a:ext cx="2103120" cy="1115568"/>
          </a:xfrm>
          <a:prstGeom prst="rect">
            <a:avLst/>
          </a:prstGeom>
          <a:solidFill>
            <a:srgbClr val="11182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042416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— MVP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" y="1353312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48hr Hackathon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92608" y="1609344"/>
            <a:ext cx="1645920" cy="0"/>
          </a:xfrm>
          <a:prstGeom prst="line">
            <a:avLst/>
          </a:prstGeom>
          <a:noFill/>
          <a:ln w="6350">
            <a:solidFill>
              <a:srgbClr val="06B6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" y="2834640"/>
            <a:ext cx="2103120" cy="2011680"/>
          </a:xfrm>
          <a:prstGeom prst="rect">
            <a:avLst/>
          </a:prstGeom>
          <a:solidFill>
            <a:srgbClr val="111827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907792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 agent cluster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Risk dashboard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Document analysis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Predictive reports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54680" y="2258568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77440" y="1005840"/>
            <a:ext cx="2103120" cy="1115568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87168" y="1042416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 — Growth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87168" y="1353312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487168" y="1609344"/>
            <a:ext cx="1645920" cy="0"/>
          </a:xfrm>
          <a:prstGeom prst="line">
            <a:avLst/>
          </a:prstGeom>
          <a:noFill/>
          <a:ln w="6350">
            <a:solidFill>
              <a:srgbClr val="7C3A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77440" y="2834640"/>
            <a:ext cx="2103120" cy="2011680"/>
          </a:xfrm>
          <a:prstGeom prst="rect">
            <a:avLst/>
          </a:prstGeom>
          <a:solidFill>
            <a:srgbClr val="111827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14600" y="2907792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Bank API integration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Wearables data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Insurance partnerships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Mobile app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349240" y="225856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1005840"/>
            <a:ext cx="2103120" cy="1115568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1728" y="1042416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81728" y="1353312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81728" y="1609344"/>
            <a:ext cx="1645920" cy="0"/>
          </a:xfrm>
          <a:prstGeom prst="line">
            <a:avLst/>
          </a:prstGeom>
          <a:noFill/>
          <a:ln w="635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2834640"/>
            <a:ext cx="2103120" cy="2011680"/>
          </a:xfrm>
          <a:prstGeom prst="rect">
            <a:avLst/>
          </a:prstGeom>
          <a:solidFill>
            <a:srgbClr val="111827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2907792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Employee wellness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Corporate risk mgmt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B2B API product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White-label SaaS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543800" y="2258568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66560" y="1005840"/>
            <a:ext cx="2103120" cy="1115568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76288" y="1042416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Scale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76288" y="1353312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Months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876288" y="1609344"/>
            <a:ext cx="1645920" cy="0"/>
          </a:xfrm>
          <a:prstGeom prst="line">
            <a:avLst/>
          </a:prstGeom>
          <a:noFill/>
          <a:ln w="6350">
            <a:solidFill>
              <a:srgbClr val="10B98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66560" y="2834640"/>
            <a:ext cx="2103120" cy="2011680"/>
          </a:xfrm>
          <a:prstGeom prst="rect">
            <a:avLst/>
          </a:prstGeom>
          <a:solidFill>
            <a:srgbClr val="111827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03720" y="2907792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Multi-country compliance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Multilingual AI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Population forecasting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Gov partnerships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23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A23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A23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23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23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23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23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23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A23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23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1A23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1A23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1A23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1A23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A23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6350">
            <a:solidFill>
              <a:srgbClr val="1A23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-457200"/>
            <a:ext cx="4572000" cy="4572000"/>
          </a:xfrm>
          <a:prstGeom prst="ellipse">
            <a:avLst/>
          </a:prstGeom>
          <a:solidFill>
            <a:srgbClr val="06B6D4">
              <a:alpha val="7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0" y="182880"/>
            <a:ext cx="3200400" cy="3200400"/>
          </a:xfrm>
          <a:prstGeom prst="ellipse">
            <a:avLst/>
          </a:prstGeom>
          <a:solidFill>
            <a:srgbClr val="7C3AED">
              <a:alpha val="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28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228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5943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PLUTUS?</a:t>
            </a:r>
            <a:endParaRPr lang="en-US" sz="4000" dirty="0"/>
          </a:p>
        </p:txBody>
      </p:sp>
      <p:sp>
        <p:nvSpPr>
          <p:cNvPr id="25" name="Shape 23"/>
          <p:cNvSpPr/>
          <p:nvPr/>
        </p:nvSpPr>
        <p:spPr>
          <a:xfrm>
            <a:off x="914400" y="1371600"/>
            <a:ext cx="7315200" cy="1188720"/>
          </a:xfrm>
          <a:prstGeom prst="rect">
            <a:avLst/>
          </a:prstGeom>
          <a:solidFill>
            <a:srgbClr val="030B1F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254000" dist="38100" dir="8100000">
              <a:srgbClr val="06B6D4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14400" y="1371600"/>
            <a:ext cx="54864" cy="1188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78992" y="1444752"/>
            <a:ext cx="6995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 future where no individual faces a preventable financial or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i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healthcare crisis — because AI saw it coming first."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365760" y="2724912"/>
            <a:ext cx="2606040" cy="1645920"/>
          </a:xfrm>
          <a:prstGeom prst="rect">
            <a:avLst/>
          </a:prstGeom>
          <a:solidFill>
            <a:srgbClr val="111827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834640"/>
            <a:ext cx="502920" cy="50292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365760" y="340156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Predict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457200" y="37490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forecast crises 30–90 days in advance before they occur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3200400" y="2724912"/>
            <a:ext cx="2606040" cy="1645920"/>
          </a:xfrm>
          <a:prstGeom prst="rect">
            <a:avLst/>
          </a:prstGeom>
          <a:solidFill>
            <a:srgbClr val="111827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2834640"/>
            <a:ext cx="502920" cy="50292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3200400" y="340156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Protect</a:t>
            </a:r>
            <a:endParaRPr lang="en-US" sz="1800" dirty="0"/>
          </a:p>
        </p:txBody>
      </p:sp>
      <p:sp>
        <p:nvSpPr>
          <p:cNvPr id="35" name="Text 31"/>
          <p:cNvSpPr/>
          <p:nvPr/>
        </p:nvSpPr>
        <p:spPr>
          <a:xfrm>
            <a:off x="3291840" y="37490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 and insurance optimization shield your future</a:t>
            </a:r>
            <a:endParaRPr lang="en-US" sz="850" dirty="0"/>
          </a:p>
        </p:txBody>
      </p:sp>
      <p:sp>
        <p:nvSpPr>
          <p:cNvPr id="36" name="Shape 32"/>
          <p:cNvSpPr/>
          <p:nvPr/>
        </p:nvSpPr>
        <p:spPr>
          <a:xfrm>
            <a:off x="6035040" y="2724912"/>
            <a:ext cx="2606040" cy="164592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834640"/>
            <a:ext cx="502920" cy="502920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6035040" y="340156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Prosper</a:t>
            </a:r>
            <a:endParaRPr lang="en-US" sz="1800" dirty="0"/>
          </a:p>
        </p:txBody>
      </p:sp>
      <p:sp>
        <p:nvSpPr>
          <p:cNvPr id="39" name="Text 34"/>
          <p:cNvSpPr/>
          <p:nvPr/>
        </p:nvSpPr>
        <p:spPr>
          <a:xfrm>
            <a:off x="6126480" y="37490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financial health plans help you thrive, not just survive</a:t>
            </a:r>
            <a:endParaRPr lang="en-US" sz="850" dirty="0"/>
          </a:p>
        </p:txBody>
      </p:sp>
      <p:sp>
        <p:nvSpPr>
          <p:cNvPr id="40" name="Shape 35"/>
          <p:cNvSpPr/>
          <p:nvPr/>
        </p:nvSpPr>
        <p:spPr>
          <a:xfrm>
            <a:off x="0" y="4727448"/>
            <a:ext cx="9144000" cy="4160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0" y="4727448"/>
            <a:ext cx="914400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PLUTUS  ·  Predict. Protect. Prosper.  ·  From reactive recovery to proactive prevention  🏆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2026-05-30T17:04:25Z</dcterms:created>
  <dcterms:modified xsi:type="dcterms:W3CDTF">2026-05-30T17:04:25Z</dcterms:modified>
</cp:coreProperties>
</file>